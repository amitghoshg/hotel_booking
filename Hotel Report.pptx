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BBA8A04-337D-4E11-B312-978DD7A7DFF2}">
          <p14:sldIdLst>
            <p14:sldId id="256"/>
            <p14:sldId id="26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7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796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223BD-001F-5097-F94B-68CF7F4B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340E7-71AB-E567-AF47-DD9D90EB3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9703F-59B0-FFBF-466F-0CE5D1975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3295C-7B40-536B-CDEE-1EF9045659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64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684E5-A7A3-69EC-A7C7-F37795848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8FF5D-EF5A-0A28-4CD1-48C9C644A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ACF74-E7D1-D471-5B2E-4A395E864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0FAFB-DBBD-DDBD-C8CD-65D455B15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57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92964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Hotel Booking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3" y="3660696"/>
            <a:ext cx="746855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Understanding the factors influencing hotel cancellations is crucial for optimizing revenue management strategies. This presentation explores key variables affecting cancellations and offers data-driven insights to assist hotels in making informed pricing and promotional decisions.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5898833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324123" y="5862876"/>
            <a:ext cx="1967032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By Amit Ghosh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6F21E-0CC8-C343-259F-C250461A3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44E3BA3-F1A8-3131-1A1B-38F8D678D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B53526E-7D7D-ABEA-F70D-934A224BE2D1}"/>
              </a:ext>
            </a:extLst>
          </p:cNvPr>
          <p:cNvSpPr/>
          <p:nvPr/>
        </p:nvSpPr>
        <p:spPr>
          <a:xfrm>
            <a:off x="5809785" y="256963"/>
            <a:ext cx="3734276" cy="913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Hotel Booking</a:t>
            </a:r>
            <a:endParaRPr lang="en-US" sz="4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4C7344F-F84E-1C77-01E9-902185B07D01}"/>
              </a:ext>
            </a:extLst>
          </p:cNvPr>
          <p:cNvSpPr/>
          <p:nvPr/>
        </p:nvSpPr>
        <p:spPr>
          <a:xfrm>
            <a:off x="5809785" y="1662804"/>
            <a:ext cx="8642195" cy="385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000" dirty="0"/>
              <a:t>Analysis question:</a:t>
            </a:r>
          </a:p>
          <a:p>
            <a:pPr marL="342900" indent="-342900" algn="just">
              <a:buAutoNum type="arabicPeriod"/>
            </a:pPr>
            <a:r>
              <a:rPr lang="en-US" sz="2000" dirty="0"/>
              <a:t>What are the variables that affect hotel reservation cancellations?</a:t>
            </a:r>
          </a:p>
          <a:p>
            <a:pPr marL="342900" indent="-342900" algn="just">
              <a:buAutoNum type="arabicPeriod"/>
            </a:pPr>
            <a:r>
              <a:rPr lang="en-US" sz="2000" dirty="0"/>
              <a:t>How can we make hotel reservation cancellations better?</a:t>
            </a:r>
          </a:p>
          <a:p>
            <a:pPr marL="342900" indent="-342900" algn="just">
              <a:buAutoNum type="arabicPeriod"/>
            </a:pPr>
            <a:r>
              <a:rPr lang="en-US" sz="2000" dirty="0"/>
              <a:t>How will hotels be assisted in making pricing and promotional decisions?</a:t>
            </a:r>
          </a:p>
          <a:p>
            <a:pPr marL="342900" indent="-342900" algn="just">
              <a:buAutoNum type="arabicPeriod"/>
            </a:pPr>
            <a:endParaRPr lang="en-US" sz="2000" dirty="0"/>
          </a:p>
          <a:p>
            <a:pPr algn="just"/>
            <a:r>
              <a:rPr lang="en-US" sz="2000" dirty="0"/>
              <a:t>Hypothesis:</a:t>
            </a:r>
          </a:p>
          <a:p>
            <a:pPr marL="342900" indent="-342900" algn="just">
              <a:buAutoNum type="arabicPeriod"/>
            </a:pPr>
            <a:r>
              <a:rPr lang="en-US" sz="2000" dirty="0"/>
              <a:t>More cancellations occur when prices are higher.</a:t>
            </a:r>
          </a:p>
          <a:p>
            <a:pPr marL="342900" indent="-342900" algn="just">
              <a:buAutoNum type="arabicPeriod"/>
            </a:pPr>
            <a:r>
              <a:rPr lang="en-US" sz="2000" dirty="0"/>
              <a:t>When there is a longer waiting list, customers tend to cancel more frequently.</a:t>
            </a:r>
          </a:p>
          <a:p>
            <a:pPr marL="342900" indent="-342900" algn="just">
              <a:buAutoNum type="arabicPeriod"/>
            </a:pPr>
            <a:r>
              <a:rPr lang="en-US" sz="2000" dirty="0"/>
              <a:t>The majority of clients are coming from offline travel agents to make their reservations.</a:t>
            </a:r>
          </a:p>
          <a:p>
            <a:pPr marL="342900" indent="-342900" algn="just">
              <a:buAutoNum type="arabicPeriod"/>
            </a:pPr>
            <a:endParaRPr lang="en-US" sz="2000" dirty="0"/>
          </a:p>
          <a:p>
            <a:pPr algn="just"/>
            <a:r>
              <a:rPr lang="en-US" sz="2000" dirty="0"/>
              <a:t> 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D9020D9-D8BB-EBF8-F5B6-1B723D047910}"/>
              </a:ext>
            </a:extLst>
          </p:cNvPr>
          <p:cNvSpPr/>
          <p:nvPr/>
        </p:nvSpPr>
        <p:spPr>
          <a:xfrm>
            <a:off x="6324124" y="5898833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9181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123" y="470654"/>
            <a:ext cx="4271010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Cancellation Trends: A Closer Look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" y="1020366"/>
            <a:ext cx="6716078" cy="48674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9123" y="8390692"/>
            <a:ext cx="13432155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Despite a large percentage of confirmed reservations, 37% of bookings are canceled. This significantly impacts hotel earnings. City hotels generally have more bookings than resort hotels, possibly due to pricing differences.</a:t>
            </a:r>
            <a:endParaRPr lang="en-US" sz="8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A2303D-9700-22D6-2890-773723773D8B}"/>
              </a:ext>
            </a:extLst>
          </p:cNvPr>
          <p:cNvSpPr/>
          <p:nvPr/>
        </p:nvSpPr>
        <p:spPr>
          <a:xfrm>
            <a:off x="7524030" y="3673771"/>
            <a:ext cx="6927951" cy="22140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The accompanying bar graph shows the percentage of reservation that are canceled and those that are not. It is obvious that there are still a significant number of reservations that have not been canceled. There are still </a:t>
            </a:r>
            <a:r>
              <a:rPr lang="en-US" b="1" dirty="0"/>
              <a:t>37%</a:t>
            </a:r>
            <a:r>
              <a:rPr lang="en-US" dirty="0"/>
              <a:t> of client who canceled their reservation, Which has a significant impact on the hotels’ earnings. In comparison to resort hotels, city hotels have more bookings. It’s possible that resort hotels are more expensive than those in cities.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91515"/>
            <a:ext cx="5890260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Hotel Type Booking Distribution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519238"/>
            <a:ext cx="6273165" cy="3528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5298638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City Hotels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837724" y="5796439"/>
            <a:ext cx="1295495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More bookings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37724" y="6315789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Resort Hotels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37724" y="6813590"/>
            <a:ext cx="1295495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Fewer bookings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7724" y="7270075"/>
            <a:ext cx="1295495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City hotels exhibit higher booking volumes. This may be attributed to potentially higher prices at resort hotels. Location and amenities also play a role in booking preferences.</a:t>
            </a:r>
            <a:endParaRPr lang="en-US" sz="13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186CB9-1244-05E1-1C8C-44920E3474FB}"/>
              </a:ext>
            </a:extLst>
          </p:cNvPr>
          <p:cNvSpPr/>
          <p:nvPr/>
        </p:nvSpPr>
        <p:spPr>
          <a:xfrm>
            <a:off x="7315201" y="1435538"/>
            <a:ext cx="6477476" cy="8750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en-US" dirty="0"/>
              <a:t>In comparison to resort hotels, city hotels have more bookings. It’s possible that resort hotels are more expensive than those in cities.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6874"/>
            <a:ext cx="6296739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Average Daily Rate Comparison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593890"/>
            <a:ext cx="12567404" cy="35917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5567005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City Hotel ADR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37724" y="6010394"/>
            <a:ext cx="6258520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Often lower than resort hotels. Rates can fluctuate daily.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41776" y="5567005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Resort Hotel ADR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541776" y="6010394"/>
            <a:ext cx="6258520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Generally higher, especially on weekends and holidays. Demand influences pricing.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7724" y="6948249"/>
            <a:ext cx="12954952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City hotel average daily rates are frequently lower than resort hotels. Resort rates typically increase during peak times like weekends and holidays. This pricing dynamic directly impacts booking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0342" y="832485"/>
            <a:ext cx="4794539" cy="1348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Monthly Reservation </a:t>
            </a:r>
          </a:p>
          <a:p>
            <a:pPr marL="0" indent="0" algn="l">
              <a:lnSpc>
                <a:spcPts val="5400"/>
              </a:lnSpc>
              <a:buNone/>
            </a:pPr>
            <a:r>
              <a:rPr lang="en-US" sz="4300" dirty="0"/>
              <a:t>Trends</a:t>
            </a:r>
          </a:p>
        </p:txBody>
      </p:sp>
      <p:sp>
        <p:nvSpPr>
          <p:cNvPr id="4" name="Shape 1"/>
          <p:cNvSpPr/>
          <p:nvPr/>
        </p:nvSpPr>
        <p:spPr>
          <a:xfrm>
            <a:off x="1068706" y="2475129"/>
            <a:ext cx="45719" cy="3533241"/>
          </a:xfrm>
          <a:prstGeom prst="roundRect">
            <a:avLst>
              <a:gd name="adj" fmla="val 322977"/>
            </a:avLst>
          </a:prstGeom>
          <a:solidFill>
            <a:srgbClr val="D5CDBE"/>
          </a:solidFill>
          <a:ln/>
        </p:spPr>
      </p:sp>
      <p:sp>
        <p:nvSpPr>
          <p:cNvPr id="5" name="Shape 2"/>
          <p:cNvSpPr/>
          <p:nvPr/>
        </p:nvSpPr>
        <p:spPr>
          <a:xfrm>
            <a:off x="1317129" y="2759831"/>
            <a:ext cx="703064" cy="30480"/>
          </a:xfrm>
          <a:prstGeom prst="roundRect">
            <a:avLst>
              <a:gd name="adj" fmla="val 322977"/>
            </a:avLst>
          </a:prstGeom>
          <a:solidFill>
            <a:srgbClr val="D5CDBE"/>
          </a:solidFill>
          <a:ln/>
        </p:spPr>
      </p:sp>
      <p:sp>
        <p:nvSpPr>
          <p:cNvPr id="6" name="Shape 3"/>
          <p:cNvSpPr/>
          <p:nvPr/>
        </p:nvSpPr>
        <p:spPr>
          <a:xfrm>
            <a:off x="820281" y="2475129"/>
            <a:ext cx="527328" cy="527328"/>
          </a:xfrm>
          <a:prstGeom prst="roundRect">
            <a:avLst>
              <a:gd name="adj" fmla="val 1866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8987" y="2578793"/>
            <a:ext cx="330875" cy="413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255877" y="2610619"/>
            <a:ext cx="2757488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January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2255878" y="3036569"/>
            <a:ext cx="6067782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Highest cancellations. Low confirmed bookings.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378089" y="4005262"/>
            <a:ext cx="703064" cy="30480"/>
          </a:xfrm>
          <a:prstGeom prst="roundRect">
            <a:avLst>
              <a:gd name="adj" fmla="val 322977"/>
            </a:avLst>
          </a:prstGeom>
          <a:solidFill>
            <a:srgbClr val="D5CDBE"/>
          </a:solidFill>
          <a:ln/>
        </p:spPr>
      </p:sp>
      <p:sp>
        <p:nvSpPr>
          <p:cNvPr id="11" name="Shape 8"/>
          <p:cNvSpPr/>
          <p:nvPr/>
        </p:nvSpPr>
        <p:spPr>
          <a:xfrm>
            <a:off x="835521" y="3641069"/>
            <a:ext cx="527328" cy="527328"/>
          </a:xfrm>
          <a:prstGeom prst="roundRect">
            <a:avLst>
              <a:gd name="adj" fmla="val 1866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8448" y="3798451"/>
            <a:ext cx="330875" cy="413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255877" y="3827681"/>
            <a:ext cx="2757488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August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2255877" y="4229576"/>
            <a:ext cx="6067782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Peak for both confirmed and canceled reservations. High demand.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17129" y="5315903"/>
            <a:ext cx="703064" cy="30480"/>
          </a:xfrm>
          <a:prstGeom prst="roundRect">
            <a:avLst>
              <a:gd name="adj" fmla="val 322977"/>
            </a:avLst>
          </a:prstGeom>
          <a:solidFill>
            <a:srgbClr val="D5CDBE"/>
          </a:solidFill>
          <a:ln/>
        </p:spPr>
      </p:sp>
      <p:sp>
        <p:nvSpPr>
          <p:cNvPr id="16" name="Shape 13"/>
          <p:cNvSpPr/>
          <p:nvPr/>
        </p:nvSpPr>
        <p:spPr>
          <a:xfrm>
            <a:off x="820281" y="5067538"/>
            <a:ext cx="527328" cy="527328"/>
          </a:xfrm>
          <a:prstGeom prst="roundRect">
            <a:avLst>
              <a:gd name="adj" fmla="val 1866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8448" y="5124331"/>
            <a:ext cx="330875" cy="413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255877" y="5148024"/>
            <a:ext cx="2757488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Other Months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2255877" y="5633323"/>
            <a:ext cx="6067782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Varying booking and cancellation rates. Seasonal impacts.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20341" y="6271974"/>
            <a:ext cx="7503319" cy="112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August sees the highest volume of both confirmed and canceled reservations. Conversely, January experiences the most cancellations. This indicates seasonal patterns in booking behavior.</a:t>
            </a:r>
            <a:endParaRPr lang="en-US" sz="1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2225202-E08C-60F3-F67E-4CC3FEEDC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941" y="358815"/>
            <a:ext cx="7503319" cy="38707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059537"/>
            <a:ext cx="7395805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Price Elasticity of Cancellations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2016323"/>
            <a:ext cx="1077158" cy="12925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16666" y="2231708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High Prices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616666" y="2677716"/>
            <a:ext cx="6176010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Lead to more cancellations.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124" y="3308866"/>
            <a:ext cx="1077158" cy="12925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6666" y="3524250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Low Prices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7616666" y="3970258"/>
            <a:ext cx="6176010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Result in fewer cancellations.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124" y="4601408"/>
            <a:ext cx="1077158" cy="12925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16666" y="4816793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Direct Correlation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616666" y="5262801"/>
            <a:ext cx="6176010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Accommodation cost drives cancellations.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324124" y="6136243"/>
            <a:ext cx="7468553" cy="103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confirms a strong correlation: higher prices lead to more cancellations. The cost of accommodation is the primary driver for reservation cancellations, highlighting price sensitivity.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762595"/>
            <a:ext cx="672048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Customer Waitlist Impact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1825585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74" y="1883569"/>
            <a:ext cx="337899" cy="422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5559" y="190785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Longer Waitlists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615559" y="2403396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Increased likelihood of cancellations.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837724" y="3265170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974" y="3323153"/>
            <a:ext cx="337899" cy="422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15559" y="33474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Customer Patience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15559" y="3842980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Diminishes with extended waits.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837724" y="4704755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974" y="4762738"/>
            <a:ext cx="337899" cy="4224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15559" y="47870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Booking Flexibility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615559" y="5282565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Guests seek immediate confirmation.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837724" y="5934789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prolonged waiting list contributes to higher cancellation rates. Guests prefer immediate confirmation, and delays can prompt them to seek alternative accommodations. This dynamic emphasizes the need for efficient booking processes.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50244"/>
            <a:ext cx="910554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Geographic &amp; Channel Breakdown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252549"/>
            <a:ext cx="33245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Cancellations by Country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843814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Portugal has the highest number of cancellations. This suggests a regional influence on booking behavior.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325254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Booking Channels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3843814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Online Travel Agents: 46%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14761" y="431053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Groups: 27%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4777264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Direct Bookings: 4%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513189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Portugal accounts for the highest cancellations. Online travel agencies drive nearly half of all bookings. Direct bookings represent a small fraction, indicating reliance on third-party channels.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1095494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endParaRPr lang="en-US" sz="4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672F3D-F8C0-07A7-A58C-780B17270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09" y="1095494"/>
            <a:ext cx="13418668" cy="4630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57F3C-0768-ADB8-02DA-931FDE62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6D608C4-F209-9302-8181-60D8CC3C8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C11B2A7-5E7A-83FA-70B9-047D8FBF62E6}"/>
              </a:ext>
            </a:extLst>
          </p:cNvPr>
          <p:cNvSpPr/>
          <p:nvPr/>
        </p:nvSpPr>
        <p:spPr>
          <a:xfrm>
            <a:off x="6324124" y="1095494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Price-Cancellation Relationship Confirmed</a:t>
            </a:r>
            <a:endParaRPr lang="en-US" sz="4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9A59B1A-13ED-C163-8456-D210B51BED35}"/>
              </a:ext>
            </a:extLst>
          </p:cNvPr>
          <p:cNvSpPr/>
          <p:nvPr/>
        </p:nvSpPr>
        <p:spPr>
          <a:xfrm>
            <a:off x="6324124" y="2982158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Higher</a:t>
            </a:r>
            <a:endParaRPr lang="en-US" sz="6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5E4BDF7-5659-A20D-74AD-86F585E89451}"/>
              </a:ext>
            </a:extLst>
          </p:cNvPr>
          <p:cNvSpPr/>
          <p:nvPr/>
        </p:nvSpPr>
        <p:spPr>
          <a:xfrm>
            <a:off x="6324124" y="4071104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ADR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B51BC7B-4286-E554-E4BB-EE362F9A1D0C}"/>
              </a:ext>
            </a:extLst>
          </p:cNvPr>
          <p:cNvSpPr/>
          <p:nvPr/>
        </p:nvSpPr>
        <p:spPr>
          <a:xfrm>
            <a:off x="6324124" y="4566642"/>
            <a:ext cx="22900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Correlates with more cancellations.</a:t>
            </a:r>
            <a:endParaRPr lang="en-US" sz="18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22A5DBF-430F-F814-70D7-12F2273727CA}"/>
              </a:ext>
            </a:extLst>
          </p:cNvPr>
          <p:cNvSpPr/>
          <p:nvPr/>
        </p:nvSpPr>
        <p:spPr>
          <a:xfrm>
            <a:off x="8913376" y="2982158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Lower</a:t>
            </a:r>
            <a:endParaRPr lang="en-US" sz="6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C7F29EF-0F74-4F8F-BC83-353D5C9871DA}"/>
              </a:ext>
            </a:extLst>
          </p:cNvPr>
          <p:cNvSpPr/>
          <p:nvPr/>
        </p:nvSpPr>
        <p:spPr>
          <a:xfrm>
            <a:off x="8913376" y="4071104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ADR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35C4363-ADEB-F632-C58D-7BA3BD4FF503}"/>
              </a:ext>
            </a:extLst>
          </p:cNvPr>
          <p:cNvSpPr/>
          <p:nvPr/>
        </p:nvSpPr>
        <p:spPr>
          <a:xfrm>
            <a:off x="8913376" y="4566642"/>
            <a:ext cx="22900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Results in fewer cancellations.</a:t>
            </a:r>
            <a:endParaRPr lang="en-US" sz="18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BFFF0B8-11CD-C364-3802-C1BC0B4017FE}"/>
              </a:ext>
            </a:extLst>
          </p:cNvPr>
          <p:cNvSpPr/>
          <p:nvPr/>
        </p:nvSpPr>
        <p:spPr>
          <a:xfrm>
            <a:off x="11502628" y="2982158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Clear</a:t>
            </a:r>
            <a:endParaRPr lang="en-US" sz="6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5230428-FEA8-6F20-8E89-440B09D5848E}"/>
              </a:ext>
            </a:extLst>
          </p:cNvPr>
          <p:cNvSpPr/>
          <p:nvPr/>
        </p:nvSpPr>
        <p:spPr>
          <a:xfrm>
            <a:off x="11502628" y="4071104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Evidence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C3BB2B1-0B75-0CB1-FF9F-34120931933A}"/>
              </a:ext>
            </a:extLst>
          </p:cNvPr>
          <p:cNvSpPr/>
          <p:nvPr/>
        </p:nvSpPr>
        <p:spPr>
          <a:xfrm>
            <a:off x="11502628" y="4566642"/>
            <a:ext cx="22900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Price directly impacts cancellation rates.</a:t>
            </a:r>
            <a:endParaRPr lang="en-US" sz="18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D5402D4-A1DF-EC3B-33A5-017A72FF7F63}"/>
              </a:ext>
            </a:extLst>
          </p:cNvPr>
          <p:cNvSpPr/>
          <p:nvPr/>
        </p:nvSpPr>
        <p:spPr>
          <a:xfrm>
            <a:off x="6324124" y="5984915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graph explicitly shows that higher average daily rates lead to more cancellations. This reinforces our earlier analysis, emphasizing price as a critical factor in customer decisions.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3621789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440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040261"/>
            <a:ext cx="8986838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Recommendations for Revenue Optimization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837724" y="3837503"/>
            <a:ext cx="6387703" cy="1320046"/>
          </a:xfrm>
          <a:prstGeom prst="roundRect">
            <a:avLst>
              <a:gd name="adj" fmla="val 571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4771" y="4024551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Dynamic Pricing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024771" y="4396145"/>
            <a:ext cx="6013609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Adjust rates based on demand. Offer targeted discounts for specific hotels or locations. Consider off-peak promotions.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04854" y="3837503"/>
            <a:ext cx="6387822" cy="1320046"/>
          </a:xfrm>
          <a:prstGeom prst="roundRect">
            <a:avLst>
              <a:gd name="adj" fmla="val 571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91901" y="4024551"/>
            <a:ext cx="215145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Resort Hotel Strategy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91901" y="4396145"/>
            <a:ext cx="6013728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 reasonable discounts on weekends and holidays. Improve the value proposition for longer stays.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7724" y="5336977"/>
            <a:ext cx="6387703" cy="1320046"/>
          </a:xfrm>
          <a:prstGeom prst="roundRect">
            <a:avLst>
              <a:gd name="adj" fmla="val 571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771" y="5524024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January Marketing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24771" y="5895618"/>
            <a:ext cx="6013609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Launch targeted marketing campaigns. Increase promotional efforts to boost bookings during low periods. Offer special January packages.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04854" y="5336977"/>
            <a:ext cx="6387822" cy="1320046"/>
          </a:xfrm>
          <a:prstGeom prst="roundRect">
            <a:avLst>
              <a:gd name="adj" fmla="val 571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91901" y="5524024"/>
            <a:ext cx="2186345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Service Enhancement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591901" y="5895618"/>
            <a:ext cx="6013728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Focus on improving hotel quality in Portugal. Enhance guest services to reduce cancellations. Prioritize guest satisfaction.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7724" y="6858953"/>
            <a:ext cx="12954952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 dynamic pricing to counter cancellations. Offer discounts for resort hotels during peak times. Strategically market in January, and enhance service quality, especially in Portugal.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811</Words>
  <Application>Microsoft Office PowerPoint</Application>
  <PresentationFormat>Custom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Funnel Display</vt:lpstr>
      <vt:lpstr>Funnel Sans</vt:lpstr>
      <vt:lpstr>Funnel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Amit Ghosh</cp:lastModifiedBy>
  <cp:revision>2</cp:revision>
  <dcterms:created xsi:type="dcterms:W3CDTF">2025-06-16T09:48:27Z</dcterms:created>
  <dcterms:modified xsi:type="dcterms:W3CDTF">2025-06-16T11:27:59Z</dcterms:modified>
</cp:coreProperties>
</file>